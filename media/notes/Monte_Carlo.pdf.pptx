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6"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F96AB652-FC74-4651-8269-D9DA1ACD6FA3}"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904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3316014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8589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179BDBA-0016-4FE2-8B8A-C56091B60230}" type="datetimeFigureOut">
              <a:rPr lang="en-US" smtClean="0"/>
              <a:t>21-Nov-23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348321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179BDBA-0016-4FE2-8B8A-C56091B60230}" type="datetimeFigureOut">
              <a:rPr lang="en-US" smtClean="0"/>
              <a:t>21-Nov-23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6AB652-FC74-4651-8269-D9DA1ACD6FA3}"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9579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179BDBA-0016-4FE2-8B8A-C56091B60230}" type="datetimeFigureOut">
              <a:rPr lang="en-US" smtClean="0"/>
              <a:t>21-Nov-23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6AB652-FC74-4651-8269-D9DA1ACD6FA3}"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52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79BDBA-0016-4FE2-8B8A-C56091B60230}" type="datetimeFigureOut">
              <a:rPr lang="en-US" smtClean="0"/>
              <a:t>21-Nov-23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1272008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79BDBA-0016-4FE2-8B8A-C56091B60230}" type="datetimeFigureOut">
              <a:rPr lang="en-US" smtClean="0"/>
              <a:t>21-Nov-23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6AB652-FC74-4651-8269-D9DA1ACD6FA3}"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7190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79BDBA-0016-4FE2-8B8A-C56091B60230}" type="datetimeFigureOut">
              <a:rPr lang="en-US" smtClean="0"/>
              <a:t>21-Nov-23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118587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79BDBA-0016-4FE2-8B8A-C56091B60230}" type="datetimeFigureOut">
              <a:rPr lang="en-US" smtClean="0"/>
              <a:t>21-Nov-23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2311242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7909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069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spTree>
    <p:extLst>
      <p:ext uri="{BB962C8B-B14F-4D97-AF65-F5344CB8AC3E}">
        <p14:creationId xmlns:p14="http://schemas.microsoft.com/office/powerpoint/2010/main" val="2876156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1088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2870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752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79BDBA-0016-4FE2-8B8A-C56091B60230}" type="datetimeFigureOut">
              <a:rPr lang="en-US" smtClean="0"/>
              <a:t>21-Nov-23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6AB652-FC74-4651-8269-D9DA1ACD6FA3}"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5513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179BDBA-0016-4FE2-8B8A-C56091B60230}" type="datetimeFigureOut">
              <a:rPr lang="en-US" smtClean="0"/>
              <a:t>21-Nov-23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96AB652-FC74-4651-8269-D9DA1ACD6FA3}" type="slidenum">
              <a:rPr lang="en-US" smtClean="0"/>
              <a:t>‹#›</a:t>
            </a:fld>
            <a:endParaRPr lang="en-US"/>
          </a:p>
        </p:txBody>
      </p:sp>
    </p:spTree>
    <p:extLst>
      <p:ext uri="{BB962C8B-B14F-4D97-AF65-F5344CB8AC3E}">
        <p14:creationId xmlns:p14="http://schemas.microsoft.com/office/powerpoint/2010/main" val="1333075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Monte Carlo method</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0522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Monte Carlo methods</a:t>
            </a:r>
            <a:endParaRPr lang="en-US" b="1" dirty="0"/>
          </a:p>
        </p:txBody>
      </p:sp>
      <p:sp>
        <p:nvSpPr>
          <p:cNvPr id="3" name="Content Placeholder 2"/>
          <p:cNvSpPr>
            <a:spLocks noGrp="1"/>
          </p:cNvSpPr>
          <p:nvPr>
            <p:ph idx="1"/>
          </p:nvPr>
        </p:nvSpPr>
        <p:spPr/>
        <p:txBody>
          <a:bodyPr/>
          <a:lstStyle/>
          <a:p>
            <a:pPr algn="just"/>
            <a:r>
              <a:rPr lang="en-US" dirty="0"/>
              <a:t>Monte Carlo methods are a class of computational algorithms that rely on random sampling to obtain numerical results. In the context of reinforcement learning and Markov Decision Processes (MDPs), Monte Carlo methods are used to estimate value functions through experience by simulating episodes of interaction with the environment.</a:t>
            </a:r>
          </a:p>
        </p:txBody>
      </p:sp>
    </p:spTree>
    <p:extLst>
      <p:ext uri="{BB962C8B-B14F-4D97-AF65-F5344CB8AC3E}">
        <p14:creationId xmlns:p14="http://schemas.microsoft.com/office/powerpoint/2010/main" val="170623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Monte Carlo Methods in Reinforcement Learning:</a:t>
            </a:r>
          </a:p>
        </p:txBody>
      </p:sp>
      <p:sp>
        <p:nvSpPr>
          <p:cNvPr id="3" name="Content Placeholder 2"/>
          <p:cNvSpPr>
            <a:spLocks noGrp="1"/>
          </p:cNvSpPr>
          <p:nvPr>
            <p:ph idx="1"/>
          </p:nvPr>
        </p:nvSpPr>
        <p:spPr/>
        <p:txBody>
          <a:bodyPr/>
          <a:lstStyle/>
          <a:p>
            <a:pPr algn="just"/>
            <a:r>
              <a:rPr lang="en-US" b="1" dirty="0"/>
              <a:t>Estimation of Value Functions:</a:t>
            </a:r>
            <a:endParaRPr lang="en-US" dirty="0"/>
          </a:p>
          <a:p>
            <a:pPr lvl="1" algn="just"/>
            <a:r>
              <a:rPr lang="en-US" dirty="0"/>
              <a:t>Monte Carlo methods estimate value functions by averaging the returns observed from sample episodes. These returns are the cumulative rewards obtained from the start of an episode until its conclusion.</a:t>
            </a:r>
          </a:p>
          <a:p>
            <a:pPr algn="just"/>
            <a:r>
              <a:rPr lang="en-US" b="1" dirty="0"/>
              <a:t>Model-Free Learning:</a:t>
            </a:r>
            <a:endParaRPr lang="en-US" dirty="0"/>
          </a:p>
          <a:p>
            <a:pPr lvl="1" algn="just"/>
            <a:r>
              <a:rPr lang="en-US" dirty="0"/>
              <a:t>Monte Carlo methods are model-free, meaning they do not require knowledge of the system's dynamics (transition probabilities and rewards) to estimate the value functions.</a:t>
            </a:r>
          </a:p>
        </p:txBody>
      </p:sp>
    </p:spTree>
    <p:extLst>
      <p:ext uri="{BB962C8B-B14F-4D97-AF65-F5344CB8AC3E}">
        <p14:creationId xmlns:p14="http://schemas.microsoft.com/office/powerpoint/2010/main" val="99593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1547" y="1250302"/>
            <a:ext cx="10515600" cy="4824024"/>
          </a:xfrm>
        </p:spPr>
        <p:txBody>
          <a:bodyPr/>
          <a:lstStyle/>
          <a:p>
            <a:pPr algn="just"/>
            <a:r>
              <a:rPr lang="en-US" b="1" dirty="0"/>
              <a:t>Policy Evaluation:</a:t>
            </a:r>
            <a:endParaRPr lang="en-US" dirty="0"/>
          </a:p>
          <a:p>
            <a:pPr lvl="1" algn="just"/>
            <a:r>
              <a:rPr lang="en-US" dirty="0"/>
              <a:t>These methods are used for policy evaluation by determining the value of states or state-action pairs under a given policy.</a:t>
            </a:r>
          </a:p>
          <a:p>
            <a:pPr algn="just"/>
            <a:r>
              <a:rPr lang="en-US" b="1" dirty="0"/>
              <a:t>Key Steps in Monte Carlo Methods:</a:t>
            </a:r>
            <a:endParaRPr lang="en-US" dirty="0"/>
          </a:p>
          <a:p>
            <a:pPr lvl="1" algn="just"/>
            <a:r>
              <a:rPr lang="en-US" b="1" dirty="0"/>
              <a:t>Episode Generation:</a:t>
            </a:r>
            <a:r>
              <a:rPr lang="en-US" dirty="0"/>
              <a:t> Monte Carlo methods generate episodes by interacting with the environment under a specific policy.</a:t>
            </a:r>
          </a:p>
          <a:p>
            <a:pPr lvl="1" algn="just"/>
            <a:r>
              <a:rPr lang="en-US" b="1" dirty="0"/>
              <a:t>Estimation:</a:t>
            </a:r>
            <a:r>
              <a:rPr lang="en-US" dirty="0"/>
              <a:t> After the completion of an episode, the returns (cumulative rewards) are used to update the value estimates for states or state-action pairs visited during that episode.</a:t>
            </a:r>
          </a:p>
          <a:p>
            <a:pPr lvl="1" algn="just"/>
            <a:r>
              <a:rPr lang="en-US" b="1" dirty="0"/>
              <a:t>Incremental Update:</a:t>
            </a:r>
            <a:r>
              <a:rPr lang="en-US" dirty="0"/>
              <a:t> Values are updated incrementally as more episodes are experienced, gradually refining the value estimates.</a:t>
            </a:r>
          </a:p>
        </p:txBody>
      </p:sp>
    </p:spTree>
    <p:extLst>
      <p:ext uri="{BB962C8B-B14F-4D97-AF65-F5344CB8AC3E}">
        <p14:creationId xmlns:p14="http://schemas.microsoft.com/office/powerpoint/2010/main" val="3536451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59633"/>
            <a:ext cx="10515600" cy="4917329"/>
          </a:xfrm>
        </p:spPr>
        <p:txBody>
          <a:bodyPr>
            <a:normAutofit/>
          </a:bodyPr>
          <a:lstStyle/>
          <a:p>
            <a:pPr algn="just"/>
            <a:r>
              <a:rPr lang="en-US" b="1" dirty="0"/>
              <a:t>Types of Monte Carlo Methods:</a:t>
            </a:r>
            <a:endParaRPr lang="en-US" dirty="0"/>
          </a:p>
          <a:p>
            <a:pPr lvl="1" algn="just"/>
            <a:r>
              <a:rPr lang="en-US" b="1" dirty="0"/>
              <a:t>First-Visit Monte Carlo:</a:t>
            </a:r>
            <a:r>
              <a:rPr lang="en-US" dirty="0"/>
              <a:t> Only considers the first visit to a state in an episode for the value estimation.</a:t>
            </a:r>
          </a:p>
          <a:p>
            <a:pPr lvl="1" algn="just"/>
            <a:r>
              <a:rPr lang="en-US" b="1" dirty="0"/>
              <a:t>Every-Visit Monte Carlo:</a:t>
            </a:r>
            <a:r>
              <a:rPr lang="en-US" dirty="0"/>
              <a:t> Considers every visit to a state within an episode for the value estimation.</a:t>
            </a:r>
          </a:p>
          <a:p>
            <a:pPr algn="just"/>
            <a:r>
              <a:rPr lang="en-US" b="1" dirty="0"/>
              <a:t>Application in Reinforcement Learning:</a:t>
            </a:r>
            <a:endParaRPr lang="en-US" dirty="0"/>
          </a:p>
          <a:p>
            <a:pPr lvl="1" algn="just"/>
            <a:r>
              <a:rPr lang="en-US" dirty="0"/>
              <a:t>Monte Carlo methods are used in conjunction with other techniques (such as Temporal Difference learning) and in algorithms like Monte Carlo control and Monte Carlo policy evaluation to learn and improve policies</a:t>
            </a:r>
            <a:r>
              <a:rPr lang="en-US" dirty="0" smtClean="0"/>
              <a:t>.</a:t>
            </a:r>
            <a:endParaRPr lang="en-US" dirty="0"/>
          </a:p>
        </p:txBody>
      </p:sp>
    </p:spTree>
    <p:extLst>
      <p:ext uri="{BB962C8B-B14F-4D97-AF65-F5344CB8AC3E}">
        <p14:creationId xmlns:p14="http://schemas.microsoft.com/office/powerpoint/2010/main" val="3010045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1" y="1222310"/>
            <a:ext cx="9601196" cy="4653558"/>
          </a:xfrm>
        </p:spPr>
        <p:txBody>
          <a:bodyPr/>
          <a:lstStyle/>
          <a:p>
            <a:pPr algn="just"/>
            <a:r>
              <a:rPr lang="en-US" dirty="0"/>
              <a:t>Overall, Monte Carlo methods are powerful tools in reinforcement learning for estimating value functions, particularly when an agent can interact with the environment and collect samples of experience through episodes of play or interaction</a:t>
            </a:r>
            <a:r>
              <a:rPr lang="en-US" dirty="0" smtClean="0"/>
              <a:t>.</a:t>
            </a:r>
          </a:p>
          <a:p>
            <a:pPr algn="just"/>
            <a:endParaRPr lang="en-US" dirty="0"/>
          </a:p>
          <a:p>
            <a:pPr algn="just"/>
            <a:r>
              <a:rPr lang="en-US" dirty="0"/>
              <a:t>Monte Carlo methods are used in reinforcement learning to estimate the value function for states. We'll create a simple environment with states and actions to showcase Monte Carlo methods for estimating the value of states.</a:t>
            </a:r>
            <a:endParaRPr lang="en-US" dirty="0"/>
          </a:p>
        </p:txBody>
      </p:sp>
    </p:spTree>
    <p:extLst>
      <p:ext uri="{BB962C8B-B14F-4D97-AF65-F5344CB8AC3E}">
        <p14:creationId xmlns:p14="http://schemas.microsoft.com/office/powerpoint/2010/main" val="4061859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1" y="1315616"/>
            <a:ext cx="9601196" cy="4560252"/>
          </a:xfrm>
        </p:spPr>
        <p:txBody>
          <a:bodyPr>
            <a:normAutofit lnSpcReduction="10000"/>
          </a:bodyPr>
          <a:lstStyle/>
          <a:p>
            <a:pPr marL="0" indent="0">
              <a:buNone/>
            </a:pPr>
            <a:r>
              <a:rPr lang="en-US" b="1" dirty="0"/>
              <a:t>Problem Setup:</a:t>
            </a:r>
          </a:p>
          <a:p>
            <a:pPr algn="just"/>
            <a:r>
              <a:rPr lang="en-US" dirty="0"/>
              <a:t>Let's consider a small grid world with three states: A, B, and C. The agent can take actions in each state, and each action leads to a subsequent state with associated rewards.</a:t>
            </a:r>
          </a:p>
          <a:p>
            <a:pPr marL="0" indent="0">
              <a:buNone/>
            </a:pPr>
            <a:r>
              <a:rPr lang="en-US" b="1" dirty="0"/>
              <a:t>State Transition Probabilities and Rewards:</a:t>
            </a:r>
          </a:p>
          <a:p>
            <a:pPr algn="just"/>
            <a:r>
              <a:rPr lang="en-US" dirty="0"/>
              <a:t>From State A, the agent can move to B or C with equal probability. Taking Action 1 in A yields a reward of +10, and Action 2 yields a reward of +5.</a:t>
            </a:r>
          </a:p>
          <a:p>
            <a:pPr algn="just"/>
            <a:r>
              <a:rPr lang="en-US" dirty="0"/>
              <a:t>From State B, the agent moves to A with probability 1 and receives a reward of -1 for any action.</a:t>
            </a:r>
          </a:p>
          <a:p>
            <a:pPr algn="just"/>
            <a:r>
              <a:rPr lang="en-US" dirty="0"/>
              <a:t>State C is a terminal state, and no actions are possible from C. The agent receives a reward of +40 upon reaching C.</a:t>
            </a:r>
          </a:p>
        </p:txBody>
      </p:sp>
    </p:spTree>
    <p:extLst>
      <p:ext uri="{BB962C8B-B14F-4D97-AF65-F5344CB8AC3E}">
        <p14:creationId xmlns:p14="http://schemas.microsoft.com/office/powerpoint/2010/main" val="84406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Monte Carlo Estimation:</a:t>
            </a:r>
            <a:br>
              <a:rPr lang="en-US" sz="2800" b="1" dirty="0"/>
            </a:br>
            <a:r>
              <a:rPr lang="en-US" sz="2800" dirty="0"/>
              <a:t>We'll use Monte Carlo methods to estimate the value of state A in this grid world.</a:t>
            </a:r>
          </a:p>
        </p:txBody>
      </p:sp>
      <p:sp>
        <p:nvSpPr>
          <p:cNvPr id="3" name="Content Placeholder 2"/>
          <p:cNvSpPr>
            <a:spLocks noGrp="1"/>
          </p:cNvSpPr>
          <p:nvPr>
            <p:ph idx="1"/>
          </p:nvPr>
        </p:nvSpPr>
        <p:spPr/>
        <p:txBody>
          <a:bodyPr>
            <a:normAutofit fontScale="70000" lnSpcReduction="20000"/>
          </a:bodyPr>
          <a:lstStyle/>
          <a:p>
            <a:r>
              <a:rPr lang="en-US" b="1" dirty="0"/>
              <a:t>Steps for Monte Carlo Estimation:</a:t>
            </a:r>
          </a:p>
          <a:p>
            <a:r>
              <a:rPr lang="en-US" b="1" dirty="0"/>
              <a:t>Initialize:</a:t>
            </a:r>
            <a:r>
              <a:rPr lang="en-US" dirty="0"/>
              <a:t> Set up the state value function table </a:t>
            </a:r>
            <a:r>
              <a:rPr lang="en-US" i="1" dirty="0" smtClean="0"/>
              <a:t>V</a:t>
            </a:r>
            <a:r>
              <a:rPr lang="en-US" dirty="0" smtClean="0"/>
              <a:t>(</a:t>
            </a:r>
            <a:r>
              <a:rPr lang="en-US" i="1" dirty="0" smtClean="0"/>
              <a:t>s</a:t>
            </a:r>
            <a:r>
              <a:rPr lang="en-US" dirty="0"/>
              <a:t>) with initial values.</a:t>
            </a:r>
          </a:p>
          <a:p>
            <a:pPr lvl="1"/>
            <a:r>
              <a:rPr lang="en-US" dirty="0"/>
              <a:t>Initialize </a:t>
            </a:r>
            <a:r>
              <a:rPr lang="en-US" i="1" dirty="0" smtClean="0"/>
              <a:t>V</a:t>
            </a:r>
            <a:r>
              <a:rPr lang="en-US" dirty="0" smtClean="0"/>
              <a:t>(</a:t>
            </a:r>
            <a:r>
              <a:rPr lang="en-US" i="1" dirty="0" smtClean="0"/>
              <a:t>A</a:t>
            </a:r>
            <a:r>
              <a:rPr lang="en-US" dirty="0"/>
              <a:t>)=</a:t>
            </a:r>
            <a:r>
              <a:rPr lang="en-US" i="1" dirty="0"/>
              <a:t>V</a:t>
            </a:r>
            <a:r>
              <a:rPr lang="en-US" dirty="0"/>
              <a:t>(</a:t>
            </a:r>
            <a:r>
              <a:rPr lang="en-US" i="1" dirty="0"/>
              <a:t>B</a:t>
            </a:r>
            <a:r>
              <a:rPr lang="en-US" dirty="0"/>
              <a:t>)=</a:t>
            </a:r>
            <a:r>
              <a:rPr lang="en-US" i="1" dirty="0"/>
              <a:t>V</a:t>
            </a:r>
            <a:r>
              <a:rPr lang="en-US" dirty="0"/>
              <a:t>(</a:t>
            </a:r>
            <a:r>
              <a:rPr lang="en-US" i="1" dirty="0"/>
              <a:t>C</a:t>
            </a:r>
            <a:r>
              <a:rPr lang="en-US" dirty="0"/>
              <a:t>)=0.</a:t>
            </a:r>
          </a:p>
          <a:p>
            <a:r>
              <a:rPr lang="en-US" b="1" dirty="0"/>
              <a:t>Generate Episodes:</a:t>
            </a:r>
            <a:endParaRPr lang="en-US" dirty="0"/>
          </a:p>
          <a:p>
            <a:pPr lvl="1"/>
            <a:r>
              <a:rPr lang="en-US" dirty="0"/>
              <a:t>Run multiple episodes starting from State A, following a policy.</a:t>
            </a:r>
          </a:p>
          <a:p>
            <a:pPr lvl="1"/>
            <a:r>
              <a:rPr lang="en-US" dirty="0"/>
              <a:t>Record the states visited, the rewards obtained, and the total return (sum of rewards) for each episode.</a:t>
            </a:r>
          </a:p>
          <a:p>
            <a:r>
              <a:rPr lang="en-US" b="1" dirty="0"/>
              <a:t>Estimation Process:</a:t>
            </a:r>
            <a:endParaRPr lang="en-US" dirty="0"/>
          </a:p>
          <a:p>
            <a:pPr lvl="1"/>
            <a:r>
              <a:rPr lang="en-US" dirty="0"/>
              <a:t>For state A, calculate the average return obtained over episodes that visit state A.</a:t>
            </a:r>
          </a:p>
          <a:p>
            <a:pPr lvl="1"/>
            <a:r>
              <a:rPr lang="en-US" dirty="0"/>
              <a:t>Update the value of state A with this average return to estimate its value.</a:t>
            </a:r>
          </a:p>
          <a:p>
            <a:r>
              <a:rPr lang="en-US" b="1" dirty="0"/>
              <a:t>Repeat:</a:t>
            </a:r>
            <a:r>
              <a:rPr lang="en-US" dirty="0"/>
              <a:t> Continue generating episodes and updating the value of state A until the value converges or stabilizes.</a:t>
            </a:r>
          </a:p>
        </p:txBody>
      </p:sp>
    </p:spTree>
    <p:extLst>
      <p:ext uri="{BB962C8B-B14F-4D97-AF65-F5344CB8AC3E}">
        <p14:creationId xmlns:p14="http://schemas.microsoft.com/office/powerpoint/2010/main" val="3388138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Numerical Example:</a:t>
            </a:r>
          </a:p>
        </p:txBody>
      </p:sp>
      <p:sp>
        <p:nvSpPr>
          <p:cNvPr id="3" name="Content Placeholder 2"/>
          <p:cNvSpPr>
            <a:spLocks noGrp="1"/>
          </p:cNvSpPr>
          <p:nvPr>
            <p:ph idx="1"/>
          </p:nvPr>
        </p:nvSpPr>
        <p:spPr/>
        <p:txBody>
          <a:bodyPr>
            <a:normAutofit lnSpcReduction="10000"/>
          </a:bodyPr>
          <a:lstStyle/>
          <a:p>
            <a:r>
              <a:rPr lang="en-US" dirty="0"/>
              <a:t>For the state A estimation, consider running 5 episodes. The returns obtained for each episode when starting from state A are:</a:t>
            </a:r>
          </a:p>
          <a:p>
            <a:r>
              <a:rPr lang="en-US" dirty="0"/>
              <a:t>Episode 1: 1010</a:t>
            </a:r>
          </a:p>
          <a:p>
            <a:r>
              <a:rPr lang="en-US" dirty="0"/>
              <a:t>Episode 2: 55</a:t>
            </a:r>
          </a:p>
          <a:p>
            <a:r>
              <a:rPr lang="en-US" dirty="0"/>
              <a:t>Episode 3: 1010</a:t>
            </a:r>
          </a:p>
          <a:p>
            <a:r>
              <a:rPr lang="en-US" dirty="0"/>
              <a:t>Episode 4: 1010</a:t>
            </a:r>
          </a:p>
          <a:p>
            <a:r>
              <a:rPr lang="en-US" dirty="0"/>
              <a:t>Episode 5: 55</a:t>
            </a:r>
          </a:p>
        </p:txBody>
      </p:sp>
    </p:spTree>
    <p:extLst>
      <p:ext uri="{BB962C8B-B14F-4D97-AF65-F5344CB8AC3E}">
        <p14:creationId xmlns:p14="http://schemas.microsoft.com/office/powerpoint/2010/main" val="2609344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Calculation:</a:t>
            </a:r>
          </a:p>
        </p:txBody>
      </p:sp>
      <p:sp>
        <p:nvSpPr>
          <p:cNvPr id="3" name="Content Placeholder 2"/>
          <p:cNvSpPr>
            <a:spLocks noGrp="1"/>
          </p:cNvSpPr>
          <p:nvPr>
            <p:ph idx="1"/>
          </p:nvPr>
        </p:nvSpPr>
        <p:spPr/>
        <p:txBody>
          <a:bodyPr>
            <a:normAutofit fontScale="92500"/>
          </a:bodyPr>
          <a:lstStyle/>
          <a:p>
            <a:r>
              <a:rPr lang="en-US" dirty="0"/>
              <a:t>For state A, the Monte Carlo estimation would be the average return obtained over these episodes:</a:t>
            </a:r>
          </a:p>
          <a:p>
            <a:r>
              <a:rPr lang="en-US" dirty="0"/>
              <a:t>Average Return for State A</a:t>
            </a:r>
            <a:r>
              <a:rPr lang="en-US" dirty="0" smtClean="0"/>
              <a:t>=(10+5+10+10+5)/5=8 Then</a:t>
            </a:r>
            <a:r>
              <a:rPr lang="en-US" dirty="0"/>
              <a:t>, the estimated value of state A would be updated </a:t>
            </a:r>
            <a:r>
              <a:rPr lang="en-US" dirty="0" smtClean="0"/>
              <a:t>to </a:t>
            </a:r>
            <a:r>
              <a:rPr lang="en-US" i="1" dirty="0" smtClean="0"/>
              <a:t>V</a:t>
            </a:r>
            <a:r>
              <a:rPr lang="en-US" dirty="0" smtClean="0"/>
              <a:t>(</a:t>
            </a:r>
            <a:r>
              <a:rPr lang="en-US" i="1" dirty="0" smtClean="0"/>
              <a:t>A</a:t>
            </a:r>
            <a:r>
              <a:rPr lang="en-US" dirty="0"/>
              <a:t>)=8. This value represents the average cumulative reward expected from state A following the given policy.</a:t>
            </a:r>
          </a:p>
          <a:p>
            <a:r>
              <a:rPr lang="en-US" dirty="0"/>
              <a:t>In a real-world scenario, Monte Carlo methods run through many episodes, and the estimates become more accurate with a larger number of episodes, providing better estimations of the value function for each state in the environment.</a:t>
            </a:r>
          </a:p>
        </p:txBody>
      </p:sp>
    </p:spTree>
    <p:extLst>
      <p:ext uri="{BB962C8B-B14F-4D97-AF65-F5344CB8AC3E}">
        <p14:creationId xmlns:p14="http://schemas.microsoft.com/office/powerpoint/2010/main" val="352271601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27</TotalTime>
  <Words>820</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Garamond</vt:lpstr>
      <vt:lpstr>Organic</vt:lpstr>
      <vt:lpstr>Monte Carlo method</vt:lpstr>
      <vt:lpstr>Monte Carlo methods</vt:lpstr>
      <vt:lpstr>Monte Carlo Methods in Reinforcement Learning:</vt:lpstr>
      <vt:lpstr>PowerPoint Presentation</vt:lpstr>
      <vt:lpstr>PowerPoint Presentation</vt:lpstr>
      <vt:lpstr>PowerPoint Presentation</vt:lpstr>
      <vt:lpstr>PowerPoint Presentation</vt:lpstr>
      <vt:lpstr>Monte Carlo Estimation: We'll use Monte Carlo methods to estimate the value of state A in this grid world.</vt:lpstr>
      <vt:lpstr>Numerical Example:</vt:lpstr>
      <vt:lpstr>Calculation: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Pareek</dc:creator>
  <cp:lastModifiedBy>Atul Pareek</cp:lastModifiedBy>
  <cp:revision>3</cp:revision>
  <dcterms:created xsi:type="dcterms:W3CDTF">2023-11-21T08:26:31Z</dcterms:created>
  <dcterms:modified xsi:type="dcterms:W3CDTF">2023-11-21T08:54:11Z</dcterms:modified>
</cp:coreProperties>
</file>